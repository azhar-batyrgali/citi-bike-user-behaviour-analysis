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Oswald Medium"/>
      <p:regular r:id="rId34"/>
      <p:bold r:id="rId35"/>
    </p:embeddedFont>
    <p:embeddedFont>
      <p:font typeface="Roboto"/>
      <p:regular r:id="rId36"/>
      <p:bold r:id="rId37"/>
      <p:italic r:id="rId38"/>
      <p:boldItalic r:id="rId39"/>
    </p:embeddedFont>
    <p:embeddedFont>
      <p:font typeface="Roboto Light"/>
      <p:regular r:id="rId40"/>
      <p:bold r:id="rId41"/>
      <p:italic r:id="rId42"/>
      <p:boldItalic r:id="rId43"/>
    </p:embeddedFont>
    <p:embeddedFont>
      <p:font typeface="Oswald"/>
      <p:regular r:id="rId44"/>
      <p:bold r:id="rId45"/>
    </p:embeddedFont>
    <p:embeddedFont>
      <p:font typeface="Nunito Light"/>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Light-regular.fntdata"/><Relationship Id="rId42" Type="http://schemas.openxmlformats.org/officeDocument/2006/relationships/font" Target="fonts/RobotoLight-italic.fntdata"/><Relationship Id="rId41" Type="http://schemas.openxmlformats.org/officeDocument/2006/relationships/font" Target="fonts/RobotoLight-bold.fntdata"/><Relationship Id="rId44" Type="http://schemas.openxmlformats.org/officeDocument/2006/relationships/font" Target="fonts/Oswald-regular.fntdata"/><Relationship Id="rId43" Type="http://schemas.openxmlformats.org/officeDocument/2006/relationships/font" Target="fonts/RobotoLight-boldItalic.fntdata"/><Relationship Id="rId46" Type="http://schemas.openxmlformats.org/officeDocument/2006/relationships/font" Target="fonts/NunitoLight-regular.fntdata"/><Relationship Id="rId45" Type="http://schemas.openxmlformats.org/officeDocument/2006/relationships/font" Target="fonts/Oswa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Light-italic.fntdata"/><Relationship Id="rId47" Type="http://schemas.openxmlformats.org/officeDocument/2006/relationships/font" Target="fonts/NunitoLight-bold.fntdata"/><Relationship Id="rId49" Type="http://schemas.openxmlformats.org/officeDocument/2006/relationships/font" Target="fonts/Nunito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OswaldMedium-bold.fntdata"/><Relationship Id="rId34" Type="http://schemas.openxmlformats.org/officeDocument/2006/relationships/font" Target="fonts/OswaldMedium-regular.fntdata"/><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c896cf83fc_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c896cf83f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c896cf83fc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c896cf83fc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896cf83fc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896cf83fc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896cf83fc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896cf83fc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896cf83fc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896cf83fc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896cf83fc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896cf83fc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896cf83fc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896cf83fc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896cf83fc_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896cf83fc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896cf83fc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896cf83fc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896cf83fc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896cf83fc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896cf83fc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896cf83fc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896cf83fc_2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896cf83fc_2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c896cf83fc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c896cf83fc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896cf83fc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896cf83fc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f4f4bc9a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f4f4bc9a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f9f517ca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f9f517ca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f9f517ca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f9f517ca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f9f517ca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f9f517ca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f9f517ca5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f9f517ca5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f9f517ca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f9f517ca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f9f517ca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f9f517ca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f9f517ca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f9f517ca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f9f517ca5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f9f517ca5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f9f517ca5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f9f517ca5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f9f517ca5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f9f517ca5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f9f517ca5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f9f517ca5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f9f517ca5a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f9f517ca5a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0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9" name="Google Shape;19;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200"/>
              <a:buFont typeface="Roboto Light"/>
              <a:buNone/>
              <a:defRPr sz="2200">
                <a:latin typeface="Roboto Light"/>
                <a:ea typeface="Roboto Light"/>
                <a:cs typeface="Roboto Light"/>
                <a:sym typeface="Robot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p4"/>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 name="Google Shape;3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 name="Google Shape;3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2" name="Google Shape;4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6" name="Google Shape;46;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4.png"/><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12.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2.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0"/>
            <a:ext cx="9144003" cy="5143501"/>
          </a:xfrm>
          <a:prstGeom prst="rect">
            <a:avLst/>
          </a:prstGeom>
          <a:noFill/>
          <a:ln>
            <a:noFill/>
          </a:ln>
        </p:spPr>
      </p:pic>
      <p:pic>
        <p:nvPicPr>
          <p:cNvPr id="7" name="Google Shape;7;p1"/>
          <p:cNvPicPr preferRelativeResize="0"/>
          <p:nvPr/>
        </p:nvPicPr>
        <p:blipFill>
          <a:blip r:embed="rId2">
            <a:alphaModFix/>
          </a:blip>
          <a:stretch>
            <a:fillRect/>
          </a:stretch>
        </p:blipFill>
        <p:spPr>
          <a:xfrm rot="-8400002">
            <a:off x="8800593" y="-90288"/>
            <a:ext cx="886149" cy="1343523"/>
          </a:xfrm>
          <a:prstGeom prst="rect">
            <a:avLst/>
          </a:prstGeom>
          <a:noFill/>
          <a:ln>
            <a:noFill/>
          </a:ln>
        </p:spPr>
      </p:pic>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3">
            <a:alphaModFix/>
          </a:blip>
          <a:stretch>
            <a:fillRect/>
          </a:stretch>
        </p:blipFill>
        <p:spPr>
          <a:xfrm>
            <a:off x="1611224" y="4568875"/>
            <a:ext cx="886150" cy="1359349"/>
          </a:xfrm>
          <a:prstGeom prst="rect">
            <a:avLst/>
          </a:prstGeom>
          <a:noFill/>
          <a:ln>
            <a:noFill/>
          </a:ln>
        </p:spPr>
      </p:pic>
      <p:pic>
        <p:nvPicPr>
          <p:cNvPr id="10" name="Google Shape;10;p1"/>
          <p:cNvPicPr preferRelativeResize="0"/>
          <p:nvPr/>
        </p:nvPicPr>
        <p:blipFill>
          <a:blip r:embed="rId4">
            <a:alphaModFix/>
          </a:blip>
          <a:stretch>
            <a:fillRect/>
          </a:stretch>
        </p:blipFill>
        <p:spPr>
          <a:xfrm>
            <a:off x="5562800" y="4504275"/>
            <a:ext cx="987831" cy="1359349"/>
          </a:xfrm>
          <a:prstGeom prst="rect">
            <a:avLst/>
          </a:prstGeom>
          <a:noFill/>
          <a:ln>
            <a:noFill/>
          </a:ln>
        </p:spPr>
      </p:pic>
      <p:pic>
        <p:nvPicPr>
          <p:cNvPr id="11" name="Google Shape;11;p1"/>
          <p:cNvPicPr preferRelativeResize="0"/>
          <p:nvPr/>
        </p:nvPicPr>
        <p:blipFill>
          <a:blip r:embed="rId2">
            <a:alphaModFix/>
          </a:blip>
          <a:stretch>
            <a:fillRect/>
          </a:stretch>
        </p:blipFill>
        <p:spPr>
          <a:xfrm rot="1799997">
            <a:off x="-680594" y="2242087"/>
            <a:ext cx="886150" cy="1343523"/>
          </a:xfrm>
          <a:prstGeom prst="rect">
            <a:avLst/>
          </a:prstGeom>
          <a:noFill/>
          <a:ln>
            <a:noFill/>
          </a:ln>
        </p:spPr>
      </p:pic>
      <p:pic>
        <p:nvPicPr>
          <p:cNvPr id="12" name="Google Shape;12;p1"/>
          <p:cNvPicPr preferRelativeResize="0"/>
          <p:nvPr/>
        </p:nvPicPr>
        <p:blipFill>
          <a:blip r:embed="rId3">
            <a:alphaModFix/>
          </a:blip>
          <a:stretch>
            <a:fillRect/>
          </a:stretch>
        </p:blipFill>
        <p:spPr>
          <a:xfrm>
            <a:off x="4596699" y="-914325"/>
            <a:ext cx="886150" cy="1359349"/>
          </a:xfrm>
          <a:prstGeom prst="rect">
            <a:avLst/>
          </a:prstGeom>
          <a:noFill/>
          <a:ln>
            <a:noFill/>
          </a:ln>
        </p:spPr>
      </p:pic>
      <p:pic>
        <p:nvPicPr>
          <p:cNvPr id="13" name="Google Shape;13;p1"/>
          <p:cNvPicPr preferRelativeResize="0"/>
          <p:nvPr/>
        </p:nvPicPr>
        <p:blipFill>
          <a:blip r:embed="rId4">
            <a:alphaModFix/>
          </a:blip>
          <a:stretch>
            <a:fillRect/>
          </a:stretch>
        </p:blipFill>
        <p:spPr>
          <a:xfrm rot="5400000">
            <a:off x="8915051" y="2473999"/>
            <a:ext cx="987831" cy="1359352"/>
          </a:xfrm>
          <a:prstGeom prst="rect">
            <a:avLst/>
          </a:prstGeom>
          <a:noFill/>
          <a:ln>
            <a:noFill/>
          </a:ln>
        </p:spPr>
      </p:pic>
      <p:pic>
        <p:nvPicPr>
          <p:cNvPr id="14" name="Google Shape;14;p1"/>
          <p:cNvPicPr preferRelativeResize="0"/>
          <p:nvPr/>
        </p:nvPicPr>
        <p:blipFill>
          <a:blip r:embed="rId4">
            <a:alphaModFix/>
          </a:blip>
          <a:stretch>
            <a:fillRect/>
          </a:stretch>
        </p:blipFill>
        <p:spPr>
          <a:xfrm>
            <a:off x="229850" y="-854350"/>
            <a:ext cx="987831" cy="1359349"/>
          </a:xfrm>
          <a:prstGeom prst="rect">
            <a:avLst/>
          </a:prstGeom>
          <a:noFill/>
          <a:ln>
            <a:noFill/>
          </a:ln>
        </p:spPr>
      </p:pic>
      <p:sp>
        <p:nvSpPr>
          <p:cNvPr id="15" name="Google Shape;15;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Oswald Medium"/>
              <a:buNone/>
              <a:defRPr sz="2800">
                <a:solidFill>
                  <a:schemeClr val="dk1"/>
                </a:solidFill>
                <a:latin typeface="Oswald Medium"/>
                <a:ea typeface="Oswald Medium"/>
                <a:cs typeface="Oswald Medium"/>
                <a:sym typeface="Oswald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 name="Google Shape;16;p1"/>
          <p:cNvSpPr txBox="1"/>
          <p:nvPr>
            <p:ph idx="1" type="body"/>
          </p:nvPr>
        </p:nvSpPr>
        <p:spPr>
          <a:xfrm>
            <a:off x="311700" y="1152475"/>
            <a:ext cx="82677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Light"/>
              <a:buChar char="●"/>
              <a:defRPr sz="18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2pPr>
            <a:lvl3pPr indent="-317500" lvl="2" marL="13716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3pPr>
            <a:lvl4pPr indent="-317500" lvl="3" marL="18288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4pPr>
            <a:lvl5pPr indent="-317500" lvl="4" marL="22860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5pPr>
            <a:lvl6pPr indent="-317500" lvl="5" marL="27432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6pPr>
            <a:lvl7pPr indent="-317500" lvl="6" marL="32004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7pPr>
            <a:lvl8pPr indent="-317500" lvl="7" marL="36576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8pPr>
            <a:lvl9pPr indent="-317500" lvl="8" marL="4114800">
              <a:lnSpc>
                <a:spcPct val="115000"/>
              </a:lnSpc>
              <a:spcBef>
                <a:spcPts val="0"/>
              </a:spcBef>
              <a:spcAft>
                <a:spcPts val="0"/>
              </a:spcAft>
              <a:buClr>
                <a:schemeClr val="dk1"/>
              </a:buClr>
              <a:buSzPts val="1400"/>
              <a:buFont typeface="Roboto Light"/>
              <a:buChar char="■"/>
              <a:defRPr>
                <a:solidFill>
                  <a:schemeClr val="dk1"/>
                </a:solidFill>
                <a:latin typeface="Roboto Light"/>
                <a:ea typeface="Roboto Light"/>
                <a:cs typeface="Roboto Light"/>
                <a:sym typeface="Roboto Light"/>
              </a:defRPr>
            </a:lvl9pPr>
          </a:lstStyle>
          <a:p/>
        </p:txBody>
      </p:sp>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p:nvPr/>
        </p:nvSpPr>
        <p:spPr>
          <a:xfrm>
            <a:off x="541650" y="1829483"/>
            <a:ext cx="8061300" cy="924300"/>
          </a:xfrm>
          <a:prstGeom prst="roundRect">
            <a:avLst>
              <a:gd fmla="val 3356" name="adj"/>
            </a:avLst>
          </a:prstGeom>
          <a:solidFill>
            <a:srgbClr val="CCB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txBox="1"/>
          <p:nvPr>
            <p:ph type="ctrTitle"/>
          </p:nvPr>
        </p:nvSpPr>
        <p:spPr>
          <a:xfrm>
            <a:off x="731250" y="1734111"/>
            <a:ext cx="7871700" cy="1056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 Bike Data Analysis</a:t>
            </a:r>
            <a:endParaRPr/>
          </a:p>
        </p:txBody>
      </p:sp>
      <p:sp>
        <p:nvSpPr>
          <p:cNvPr id="64" name="Google Shape;64;p13"/>
          <p:cNvSpPr txBox="1"/>
          <p:nvPr>
            <p:ph idx="1" type="subTitle"/>
          </p:nvPr>
        </p:nvSpPr>
        <p:spPr>
          <a:xfrm>
            <a:off x="311700" y="290406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Nunito Light"/>
                <a:ea typeface="Nunito Light"/>
                <a:cs typeface="Nunito Light"/>
                <a:sym typeface="Nunito Light"/>
              </a:rPr>
              <a:t>By Azhar Batyrgali</a:t>
            </a:r>
            <a:endParaRPr sz="2200">
              <a:solidFill>
                <a:schemeClr val="dk1"/>
              </a:solidFill>
              <a:latin typeface="Nunito Light"/>
              <a:ea typeface="Nunito Light"/>
              <a:cs typeface="Nunito Light"/>
              <a:sym typeface="Nuni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p:nvPr/>
        </p:nvSpPr>
        <p:spPr>
          <a:xfrm>
            <a:off x="541650" y="1829483"/>
            <a:ext cx="8061300" cy="924300"/>
          </a:xfrm>
          <a:prstGeom prst="roundRect">
            <a:avLst>
              <a:gd fmla="val 3356" name="adj"/>
            </a:avLst>
          </a:prstGeom>
          <a:solidFill>
            <a:srgbClr val="CCB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txBox="1"/>
          <p:nvPr>
            <p:ph type="ctrTitle"/>
          </p:nvPr>
        </p:nvSpPr>
        <p:spPr>
          <a:xfrm>
            <a:off x="731250" y="1734111"/>
            <a:ext cx="7871700" cy="1056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 Bike Data Analysis</a:t>
            </a:r>
            <a:endParaRPr/>
          </a:p>
        </p:txBody>
      </p:sp>
      <p:sp>
        <p:nvSpPr>
          <p:cNvPr id="71" name="Google Shape;71;p14"/>
          <p:cNvSpPr txBox="1"/>
          <p:nvPr>
            <p:ph idx="1" type="subTitle"/>
          </p:nvPr>
        </p:nvSpPr>
        <p:spPr>
          <a:xfrm>
            <a:off x="311700" y="290406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Nunito Light"/>
                <a:ea typeface="Nunito Light"/>
                <a:cs typeface="Nunito Light"/>
                <a:sym typeface="Nunito Light"/>
              </a:rPr>
              <a:t>By Azhar Batyrgali</a:t>
            </a:r>
            <a:endParaRPr sz="2200">
              <a:solidFill>
                <a:schemeClr val="dk1"/>
              </a:solidFill>
              <a:latin typeface="Nunito Light"/>
              <a:ea typeface="Nunito Light"/>
              <a:cs typeface="Nunito Light"/>
              <a:sym typeface="Nuni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a:t>
            </a:r>
            <a:endParaRPr/>
          </a:p>
        </p:txBody>
      </p:sp>
      <p:sp>
        <p:nvSpPr>
          <p:cNvPr id="77" name="Google Shape;77;p15"/>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i="1" lang="en"/>
              <a:t>To better understand the behavior of Citi Bike’s customer base (both one-time users and subscribers) and how they use Citi Bikes</a:t>
            </a:r>
            <a:br>
              <a:rPr i="1" lang="en"/>
            </a:br>
            <a:endParaRPr i="1"/>
          </a:p>
          <a:p>
            <a:pPr indent="-342900" lvl="0" marL="457200" rtl="0" algn="l">
              <a:spcBef>
                <a:spcPts val="0"/>
              </a:spcBef>
              <a:spcAft>
                <a:spcPts val="0"/>
              </a:spcAft>
              <a:buSzPts val="1800"/>
              <a:buChar char="●"/>
            </a:pPr>
            <a:r>
              <a:rPr i="1" lang="en"/>
              <a:t>This will help us to:</a:t>
            </a:r>
            <a:br>
              <a:rPr i="1" lang="en"/>
            </a:br>
            <a:endParaRPr i="1"/>
          </a:p>
          <a:p>
            <a:pPr indent="-317500" lvl="1" marL="914400" rtl="0" algn="l">
              <a:spcBef>
                <a:spcPts val="0"/>
              </a:spcBef>
              <a:spcAft>
                <a:spcPts val="0"/>
              </a:spcAft>
              <a:buSzPts val="1400"/>
              <a:buChar char="○"/>
            </a:pPr>
            <a:r>
              <a:rPr i="1" lang="en"/>
              <a:t>Identify where more bikes should be installed</a:t>
            </a:r>
            <a:endParaRPr i="1"/>
          </a:p>
          <a:p>
            <a:pPr indent="-317500" lvl="1" marL="914400" rtl="0" algn="l">
              <a:spcBef>
                <a:spcPts val="0"/>
              </a:spcBef>
              <a:spcAft>
                <a:spcPts val="0"/>
              </a:spcAft>
              <a:buSzPts val="1400"/>
              <a:buChar char="○"/>
            </a:pPr>
            <a:r>
              <a:rPr i="1" lang="en"/>
              <a:t>Create targeted </a:t>
            </a:r>
            <a:r>
              <a:rPr i="1" lang="en"/>
              <a:t>marketing</a:t>
            </a:r>
            <a:r>
              <a:rPr i="1" lang="en"/>
              <a:t> campaigns that will appeal to different customer segments</a:t>
            </a:r>
            <a:endParaRPr i="1"/>
          </a:p>
          <a:p>
            <a:pPr indent="0" lvl="0" marL="914400" rtl="0" algn="l">
              <a:spcBef>
                <a:spcPts val="1200"/>
              </a:spcBef>
              <a:spcAft>
                <a:spcPts val="1200"/>
              </a:spcAft>
              <a:buNone/>
            </a:pPr>
            <a:r>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questions:</a:t>
            </a:r>
            <a:endParaRPr/>
          </a:p>
        </p:txBody>
      </p:sp>
      <p:sp>
        <p:nvSpPr>
          <p:cNvPr id="83" name="Google Shape;83;p16"/>
          <p:cNvSpPr txBox="1"/>
          <p:nvPr>
            <p:ph idx="1" type="body"/>
          </p:nvPr>
        </p:nvSpPr>
        <p:spPr>
          <a:xfrm>
            <a:off x="311700" y="1152475"/>
            <a:ext cx="82677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What are the most popular pick-up locations across the city for Citi Bike rental?</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How does the average trip duration vary across different age groups?</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Which age group rents the most bikes?</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How does bike rental vary across the two user groups (one-time users vs long-term subscribers) on different days of the week? </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Does the factor of user age impact the average bike trip duration?</a:t>
            </a:r>
            <a:endParaRPr i="1"/>
          </a:p>
          <a:p>
            <a:pPr indent="0" lvl="0" marL="914400" rtl="0" algn="l">
              <a:spcBef>
                <a:spcPts val="0"/>
              </a:spcBef>
              <a:spcAft>
                <a:spcPts val="1200"/>
              </a:spcAft>
              <a:buNone/>
            </a:pPr>
            <a:r>
              <a:t/>
            </a:r>
            <a:endParaRPr i="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Findings &amp; Insights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What are the most popular Citi Bike pick-up locations?</a:t>
            </a:r>
            <a:endParaRPr/>
          </a:p>
        </p:txBody>
      </p:sp>
      <p:pic>
        <p:nvPicPr>
          <p:cNvPr id="94" name="Google Shape;94;p18" title="The most popular pick-up stations for NY Citi Bikes.png"/>
          <p:cNvPicPr preferRelativeResize="0"/>
          <p:nvPr/>
        </p:nvPicPr>
        <p:blipFill>
          <a:blip r:embed="rId3">
            <a:alphaModFix/>
          </a:blip>
          <a:stretch>
            <a:fillRect/>
          </a:stretch>
        </p:blipFill>
        <p:spPr>
          <a:xfrm>
            <a:off x="1053950" y="1162188"/>
            <a:ext cx="5715000" cy="3533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How does the average trip duration vary across different age groups?</a:t>
            </a:r>
            <a:endParaRPr/>
          </a:p>
        </p:txBody>
      </p:sp>
      <p:sp>
        <p:nvSpPr>
          <p:cNvPr id="100" name="Google Shape;100;p19"/>
          <p:cNvSpPr txBox="1"/>
          <p:nvPr>
            <p:ph idx="1" type="body"/>
          </p:nvPr>
        </p:nvSpPr>
        <p:spPr>
          <a:xfrm>
            <a:off x="311700" y="1391000"/>
            <a:ext cx="826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100">
                <a:latin typeface="Arial"/>
                <a:ea typeface="Arial"/>
                <a:cs typeface="Arial"/>
                <a:sym typeface="Arial"/>
              </a:rPr>
              <a:t>Average trip duration varies by age</a:t>
            </a:r>
            <a:r>
              <a:rPr lang="en" sz="1100">
                <a:latin typeface="Arial"/>
                <a:ea typeface="Arial"/>
                <a:cs typeface="Arial"/>
                <a:sym typeface="Arial"/>
              </a:rPr>
              <a:t>, with older users generally taking longer rides. The 75+ age group has significantly higher average trip durations, while most working-age groups (25–64) show similar, shorter trips, indicating primarily utilitarian use.</a:t>
            </a:r>
            <a:endParaRPr i="1"/>
          </a:p>
        </p:txBody>
      </p:sp>
      <p:pic>
        <p:nvPicPr>
          <p:cNvPr id="101" name="Google Shape;101;p19" title="Average trip duration per age group.png"/>
          <p:cNvPicPr preferRelativeResize="0"/>
          <p:nvPr/>
        </p:nvPicPr>
        <p:blipFill>
          <a:blip r:embed="rId3">
            <a:alphaModFix/>
          </a:blip>
          <a:stretch>
            <a:fillRect/>
          </a:stretch>
        </p:blipFill>
        <p:spPr>
          <a:xfrm>
            <a:off x="859050" y="2420272"/>
            <a:ext cx="4275776" cy="2643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a:t>
            </a:r>
            <a:r>
              <a:rPr lang="en"/>
              <a:t>. Which age group rents the most bikes?</a:t>
            </a:r>
            <a:endParaRPr/>
          </a:p>
        </p:txBody>
      </p:sp>
      <p:sp>
        <p:nvSpPr>
          <p:cNvPr id="107" name="Google Shape;107;p20"/>
          <p:cNvSpPr txBox="1"/>
          <p:nvPr>
            <p:ph idx="1" type="body"/>
          </p:nvPr>
        </p:nvSpPr>
        <p:spPr>
          <a:xfrm>
            <a:off x="311700" y="1017725"/>
            <a:ext cx="826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100">
                <a:latin typeface="Arial"/>
                <a:ea typeface="Arial"/>
                <a:cs typeface="Arial"/>
                <a:sym typeface="Arial"/>
              </a:rPr>
              <a:t>Bike rentals are highest among the 35–44 age group</a:t>
            </a:r>
            <a:r>
              <a:rPr lang="en" sz="1100">
                <a:latin typeface="Arial"/>
                <a:ea typeface="Arial"/>
                <a:cs typeface="Arial"/>
                <a:sym typeface="Arial"/>
              </a:rPr>
              <a:t>, followed by users aged 25–34 and 45–54. This suggests that Citi Bike is predominantly used by working-age adults, likely for commuting and daily mobility.</a:t>
            </a:r>
            <a:endParaRPr i="1"/>
          </a:p>
        </p:txBody>
      </p:sp>
      <p:pic>
        <p:nvPicPr>
          <p:cNvPr id="108" name="Google Shape;108;p20" title="Number of bikes rented across different age groups.png"/>
          <p:cNvPicPr preferRelativeResize="0"/>
          <p:nvPr/>
        </p:nvPicPr>
        <p:blipFill>
          <a:blip r:embed="rId3">
            <a:alphaModFix/>
          </a:blip>
          <a:stretch>
            <a:fillRect/>
          </a:stretch>
        </p:blipFill>
        <p:spPr>
          <a:xfrm>
            <a:off x="1620525" y="1606424"/>
            <a:ext cx="5387625" cy="3331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a:t>
            </a:r>
            <a:r>
              <a:rPr lang="en"/>
              <a:t>. </a:t>
            </a:r>
            <a:r>
              <a:rPr lang="en" sz="2700">
                <a:latin typeface="Oswald"/>
                <a:ea typeface="Oswald"/>
                <a:cs typeface="Oswald"/>
                <a:sym typeface="Oswald"/>
              </a:rPr>
              <a:t>How does bike rental vary across the two user groups (one-time users vs long-term subscribers) on different days of the week? </a:t>
            </a:r>
            <a:endParaRPr sz="2700"/>
          </a:p>
        </p:txBody>
      </p:sp>
      <p:sp>
        <p:nvSpPr>
          <p:cNvPr id="114" name="Google Shape;114;p21"/>
          <p:cNvSpPr txBox="1"/>
          <p:nvPr>
            <p:ph idx="1" type="body"/>
          </p:nvPr>
        </p:nvSpPr>
        <p:spPr>
          <a:xfrm>
            <a:off x="311700" y="1391000"/>
            <a:ext cx="826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latin typeface="Arial"/>
                <a:ea typeface="Arial"/>
                <a:cs typeface="Arial"/>
                <a:sym typeface="Arial"/>
              </a:rPr>
              <a:t>Rental </a:t>
            </a:r>
            <a:r>
              <a:rPr b="1" lang="en" sz="1100">
                <a:latin typeface="Arial"/>
                <a:ea typeface="Arial"/>
                <a:cs typeface="Arial"/>
                <a:sym typeface="Arial"/>
              </a:rPr>
              <a:t>patterns differ clearly by user type and day of the week</a:t>
            </a:r>
            <a:r>
              <a:rPr lang="en" sz="1100">
                <a:latin typeface="Arial"/>
                <a:ea typeface="Arial"/>
                <a:cs typeface="Arial"/>
                <a:sym typeface="Arial"/>
              </a:rPr>
              <a:t>. Long-term subscribers dominate weekday usage, reflecting regular commuting behavior, whereas one-time users are more active on weekends, indicating leisure or tourist-driven demand.</a:t>
            </a:r>
            <a:endParaRPr i="1">
              <a:solidFill>
                <a:srgbClr val="FF0000"/>
              </a:solidFill>
            </a:endParaRPr>
          </a:p>
          <a:p>
            <a:pPr indent="0" lvl="0" marL="914400" rtl="0" algn="l">
              <a:spcBef>
                <a:spcPts val="1200"/>
              </a:spcBef>
              <a:spcAft>
                <a:spcPts val="1200"/>
              </a:spcAft>
              <a:buNone/>
            </a:pPr>
            <a:r>
              <a:t/>
            </a:r>
            <a:endParaRPr i="1"/>
          </a:p>
        </p:txBody>
      </p:sp>
      <p:pic>
        <p:nvPicPr>
          <p:cNvPr id="115" name="Google Shape;115;p21" title="Number of bikes rented by one-time users and subscribers on different days of the week.png"/>
          <p:cNvPicPr preferRelativeResize="0"/>
          <p:nvPr/>
        </p:nvPicPr>
        <p:blipFill>
          <a:blip r:embed="rId3">
            <a:alphaModFix/>
          </a:blip>
          <a:stretch>
            <a:fillRect/>
          </a:stretch>
        </p:blipFill>
        <p:spPr>
          <a:xfrm>
            <a:off x="1508775" y="1935650"/>
            <a:ext cx="5077050" cy="3139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a:t>
            </a:r>
            <a:r>
              <a:rPr lang="en" sz="2700">
                <a:latin typeface="Oswald"/>
                <a:ea typeface="Oswald"/>
                <a:cs typeface="Oswald"/>
                <a:sym typeface="Oswald"/>
              </a:rPr>
              <a:t>Do factors like weather and age impact the average bike trip duration? </a:t>
            </a:r>
            <a:endParaRPr sz="2700"/>
          </a:p>
        </p:txBody>
      </p:sp>
      <p:sp>
        <p:nvSpPr>
          <p:cNvPr id="121" name="Google Shape;121;p22"/>
          <p:cNvSpPr txBox="1"/>
          <p:nvPr>
            <p:ph idx="1" type="body"/>
          </p:nvPr>
        </p:nvSpPr>
        <p:spPr>
          <a:xfrm>
            <a:off x="517425" y="1017725"/>
            <a:ext cx="82677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latin typeface="Arial"/>
                <a:ea typeface="Arial"/>
                <a:cs typeface="Arial"/>
                <a:sym typeface="Arial"/>
              </a:rPr>
              <a:t>Overall, </a:t>
            </a:r>
            <a:r>
              <a:rPr b="1" lang="en" sz="1100">
                <a:latin typeface="Arial"/>
                <a:ea typeface="Arial"/>
                <a:cs typeface="Arial"/>
                <a:sym typeface="Arial"/>
              </a:rPr>
              <a:t>factors like age (and indirectly weather) do not show a strong impact on average bike trip duration</a:t>
            </a:r>
            <a:r>
              <a:rPr lang="en" sz="1100">
                <a:latin typeface="Arial"/>
                <a:ea typeface="Arial"/>
                <a:cs typeface="Arial"/>
                <a:sym typeface="Arial"/>
              </a:rPr>
              <a:t> when looking at individual trip data. The scatter plot shows that most trips are short across all age groups, indicating </a:t>
            </a:r>
            <a:r>
              <a:rPr b="1" lang="en" sz="1100">
                <a:latin typeface="Arial"/>
                <a:ea typeface="Arial"/>
                <a:cs typeface="Arial"/>
                <a:sym typeface="Arial"/>
              </a:rPr>
              <a:t>no clear correlation between age and trip length</a:t>
            </a:r>
            <a:r>
              <a:rPr lang="en" sz="1100">
                <a:latin typeface="Arial"/>
                <a:ea typeface="Arial"/>
                <a:cs typeface="Arial"/>
                <a:sym typeface="Arial"/>
              </a:rPr>
              <a:t>. While the </a:t>
            </a:r>
            <a:r>
              <a:rPr b="1" lang="en" sz="1100">
                <a:latin typeface="Arial"/>
                <a:ea typeface="Arial"/>
                <a:cs typeface="Arial"/>
                <a:sym typeface="Arial"/>
              </a:rPr>
              <a:t>75+ age group has a higher average trip duration</a:t>
            </a:r>
            <a:r>
              <a:rPr lang="en" sz="1100">
                <a:latin typeface="Arial"/>
                <a:ea typeface="Arial"/>
                <a:cs typeface="Arial"/>
                <a:sym typeface="Arial"/>
              </a:rPr>
              <a:t> when using mean values, the </a:t>
            </a:r>
            <a:r>
              <a:rPr b="1" lang="en" sz="1100">
                <a:latin typeface="Arial"/>
                <a:ea typeface="Arial"/>
                <a:cs typeface="Arial"/>
                <a:sym typeface="Arial"/>
              </a:rPr>
              <a:t>longest individual trips</a:t>
            </a:r>
            <a:r>
              <a:rPr lang="en" sz="1100">
                <a:latin typeface="Arial"/>
                <a:ea typeface="Arial"/>
                <a:cs typeface="Arial"/>
                <a:sym typeface="Arial"/>
              </a:rPr>
              <a:t> are actually taken by users aged </a:t>
            </a:r>
            <a:r>
              <a:rPr b="1" lang="en" sz="1100">
                <a:latin typeface="Arial"/>
                <a:ea typeface="Arial"/>
                <a:cs typeface="Arial"/>
                <a:sym typeface="Arial"/>
              </a:rPr>
              <a:t>30–55</a:t>
            </a:r>
            <a:r>
              <a:rPr lang="en" sz="1100">
                <a:latin typeface="Arial"/>
                <a:ea typeface="Arial"/>
                <a:cs typeface="Arial"/>
                <a:sym typeface="Arial"/>
              </a:rPr>
              <a:t>. This difference arises because averages reflect overall tendencies, whereas the scatter plot highlights raw, individual trip behavior. Therefore, user age does not meaningfully predict trip duration at the individual level, making it a limited factor for this analysis.</a:t>
            </a:r>
            <a:endParaRPr sz="1100">
              <a:latin typeface="Arial"/>
              <a:ea typeface="Arial"/>
              <a:cs typeface="Arial"/>
              <a:sym typeface="Arial"/>
            </a:endParaRPr>
          </a:p>
          <a:p>
            <a:pPr indent="0" lvl="0" marL="0" rtl="0" algn="l">
              <a:spcBef>
                <a:spcPts val="1200"/>
              </a:spcBef>
              <a:spcAft>
                <a:spcPts val="0"/>
              </a:spcAft>
              <a:buNone/>
            </a:pPr>
            <a:r>
              <a:t/>
            </a:r>
            <a:endParaRPr i="1">
              <a:solidFill>
                <a:srgbClr val="FF0000"/>
              </a:solidFill>
            </a:endParaRPr>
          </a:p>
          <a:p>
            <a:pPr indent="0" lvl="0" marL="914400" rtl="0" algn="l">
              <a:spcBef>
                <a:spcPts val="1200"/>
              </a:spcBef>
              <a:spcAft>
                <a:spcPts val="1200"/>
              </a:spcAft>
              <a:buNone/>
            </a:pPr>
            <a:r>
              <a:t/>
            </a:r>
            <a:endParaRPr i="1"/>
          </a:p>
        </p:txBody>
      </p:sp>
      <p:pic>
        <p:nvPicPr>
          <p:cNvPr id="122" name="Google Shape;122;p22" title="chart.png"/>
          <p:cNvPicPr preferRelativeResize="0"/>
          <p:nvPr/>
        </p:nvPicPr>
        <p:blipFill>
          <a:blip r:embed="rId3">
            <a:alphaModFix/>
          </a:blip>
          <a:stretch>
            <a:fillRect/>
          </a:stretch>
        </p:blipFill>
        <p:spPr>
          <a:xfrm>
            <a:off x="597975" y="2305472"/>
            <a:ext cx="4467200" cy="2762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Summary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findings:</a:t>
            </a:r>
            <a:endParaRPr sz="2700"/>
          </a:p>
        </p:txBody>
      </p:sp>
      <p:sp>
        <p:nvSpPr>
          <p:cNvPr id="133" name="Google Shape;133;p24"/>
          <p:cNvSpPr txBox="1"/>
          <p:nvPr/>
        </p:nvSpPr>
        <p:spPr>
          <a:xfrm>
            <a:off x="311700" y="1152475"/>
            <a:ext cx="8267700" cy="34164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Clr>
                <a:srgbClr val="000000"/>
              </a:buClr>
              <a:buSzPct val="93864"/>
              <a:buFont typeface="Roboto Light"/>
              <a:buChar char="●"/>
            </a:pPr>
            <a:r>
              <a:rPr b="1" i="1" lang="en" sz="1917">
                <a:solidFill>
                  <a:srgbClr val="000000"/>
                </a:solidFill>
                <a:latin typeface="Roboto"/>
                <a:ea typeface="Roboto"/>
                <a:cs typeface="Roboto"/>
                <a:sym typeface="Roboto"/>
              </a:rPr>
              <a:t>Top 5 pick-up locations for bikes:</a:t>
            </a:r>
            <a:r>
              <a:rPr i="1" lang="en" sz="1917">
                <a:solidFill>
                  <a:srgbClr val="000000"/>
                </a:solidFill>
                <a:latin typeface="Roboto Light"/>
                <a:ea typeface="Roboto Light"/>
                <a:cs typeface="Roboto Light"/>
                <a:sym typeface="Roboto Light"/>
              </a:rPr>
              <a:t> </a:t>
            </a:r>
            <a:br>
              <a:rPr i="1" lang="en" sz="1800">
                <a:solidFill>
                  <a:srgbClr val="000000"/>
                </a:solidFill>
                <a:latin typeface="Roboto Light"/>
                <a:ea typeface="Roboto Light"/>
                <a:cs typeface="Roboto Light"/>
                <a:sym typeface="Roboto Light"/>
              </a:rPr>
            </a:br>
            <a:endParaRPr i="1" sz="1800">
              <a:solidFill>
                <a:srgbClr val="000000"/>
              </a:solidFill>
              <a:latin typeface="Roboto Light"/>
              <a:ea typeface="Roboto Light"/>
              <a:cs typeface="Roboto Light"/>
              <a:sym typeface="Roboto Light"/>
            </a:endParaRPr>
          </a:p>
          <a:p>
            <a:pPr indent="-304165" lvl="1" marL="914400" rtl="0" algn="l">
              <a:lnSpc>
                <a:spcPct val="115000"/>
              </a:lnSpc>
              <a:spcBef>
                <a:spcPts val="0"/>
              </a:spcBef>
              <a:spcAft>
                <a:spcPts val="0"/>
              </a:spcAft>
              <a:buClr>
                <a:srgbClr val="000000"/>
              </a:buClr>
              <a:buSzPct val="84436"/>
              <a:buFont typeface="Roboto Light"/>
              <a:buChar char="○"/>
            </a:pPr>
            <a:r>
              <a:rPr i="1" lang="en" sz="1658">
                <a:latin typeface="Roboto Light"/>
                <a:ea typeface="Roboto Light"/>
                <a:cs typeface="Roboto Light"/>
                <a:sym typeface="Roboto Light"/>
              </a:rPr>
              <a:t>Grove St Path, Exchange Place, Sip Ave, Hamilton Park, &amp; Morris Canal</a:t>
            </a: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25755" lvl="0" marL="457200" rtl="0" algn="l">
              <a:lnSpc>
                <a:spcPct val="115000"/>
              </a:lnSpc>
              <a:spcBef>
                <a:spcPts val="0"/>
              </a:spcBef>
              <a:spcAft>
                <a:spcPts val="0"/>
              </a:spcAft>
              <a:buClr>
                <a:srgbClr val="000000"/>
              </a:buClr>
              <a:buSzPct val="93311"/>
              <a:buFont typeface="Roboto Light"/>
              <a:buChar char="●"/>
            </a:pPr>
            <a:r>
              <a:rPr b="1" i="1" lang="en" sz="1929">
                <a:solidFill>
                  <a:srgbClr val="000000"/>
                </a:solidFill>
                <a:latin typeface="Roboto"/>
                <a:ea typeface="Roboto"/>
                <a:cs typeface="Roboto"/>
                <a:sym typeface="Roboto"/>
              </a:rPr>
              <a:t>Customer base: </a:t>
            </a:r>
            <a:br>
              <a:rPr b="1" i="1" lang="en" sz="1800">
                <a:solidFill>
                  <a:srgbClr val="000000"/>
                </a:solidFill>
                <a:latin typeface="Roboto"/>
                <a:ea typeface="Roboto"/>
                <a:cs typeface="Roboto"/>
                <a:sym typeface="Roboto"/>
              </a:rPr>
            </a:br>
            <a:endParaRPr b="1" i="1" sz="1800">
              <a:solidFill>
                <a:srgbClr val="000000"/>
              </a:solidFill>
              <a:latin typeface="Roboto"/>
              <a:ea typeface="Roboto"/>
              <a:cs typeface="Roboto"/>
              <a:sym typeface="Roboto"/>
            </a:endParaRPr>
          </a:p>
          <a:p>
            <a:pPr indent="-318093"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Based on your findings, how would you describe Citi Bike’s customer base? Think in terms of characteristics like age and user type</a:t>
            </a:r>
            <a:br>
              <a:rPr b="1" i="1" lang="en">
                <a:solidFill>
                  <a:srgbClr val="000000"/>
                </a:solidFill>
                <a:latin typeface="Roboto"/>
                <a:ea typeface="Roboto"/>
                <a:cs typeface="Roboto"/>
                <a:sym typeface="Roboto"/>
              </a:rPr>
            </a:b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32719" lvl="0" marL="457200" rtl="0" algn="l">
              <a:lnSpc>
                <a:spcPct val="115000"/>
              </a:lnSpc>
              <a:spcBef>
                <a:spcPts val="0"/>
              </a:spcBef>
              <a:spcAft>
                <a:spcPts val="0"/>
              </a:spcAft>
              <a:buClr>
                <a:srgbClr val="000000"/>
              </a:buClr>
              <a:buSzPct val="100000"/>
              <a:buFont typeface="Roboto Light"/>
              <a:buChar char="●"/>
            </a:pPr>
            <a:r>
              <a:rPr i="1" lang="en" sz="1929">
                <a:solidFill>
                  <a:srgbClr val="000000"/>
                </a:solidFill>
                <a:latin typeface="Roboto Light"/>
                <a:ea typeface="Roboto Light"/>
                <a:cs typeface="Roboto Light"/>
                <a:sym typeface="Roboto Light"/>
              </a:rPr>
              <a:t> </a:t>
            </a:r>
            <a:r>
              <a:rPr b="1" i="1" lang="en" sz="1929">
                <a:solidFill>
                  <a:srgbClr val="000000"/>
                </a:solidFill>
                <a:latin typeface="Roboto"/>
                <a:ea typeface="Roboto"/>
                <a:cs typeface="Roboto"/>
                <a:sym typeface="Roboto"/>
              </a:rPr>
              <a:t>Citi Bike customer behavior:</a:t>
            </a:r>
            <a:br>
              <a:rPr b="1" i="1" lang="en" sz="1929">
                <a:solidFill>
                  <a:srgbClr val="000000"/>
                </a:solidFill>
                <a:latin typeface="Roboto"/>
                <a:ea typeface="Roboto"/>
                <a:cs typeface="Roboto"/>
                <a:sym typeface="Roboto"/>
              </a:rPr>
            </a:br>
            <a:endParaRPr b="1" i="1" sz="1929">
              <a:solidFill>
                <a:srgbClr val="000000"/>
              </a:solidFill>
              <a:latin typeface="Roboto"/>
              <a:ea typeface="Roboto"/>
              <a:cs typeface="Roboto"/>
              <a:sym typeface="Roboto"/>
            </a:endParaRPr>
          </a:p>
          <a:p>
            <a:pPr indent="-318093"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Who takes the longest and shortest trips on average?</a:t>
            </a:r>
            <a:endParaRPr i="1" sz="1658">
              <a:solidFill>
                <a:srgbClr val="000000"/>
              </a:solidFill>
              <a:latin typeface="Roboto Light"/>
              <a:ea typeface="Roboto Light"/>
              <a:cs typeface="Roboto Light"/>
              <a:sym typeface="Roboto Light"/>
            </a:endParaRPr>
          </a:p>
          <a:p>
            <a:pPr indent="0" lvl="0" marL="0" rtl="0" algn="l">
              <a:lnSpc>
                <a:spcPct val="115000"/>
              </a:lnSpc>
              <a:spcBef>
                <a:spcPts val="1200"/>
              </a:spcBef>
              <a:spcAft>
                <a:spcPts val="1200"/>
              </a:spcAft>
              <a:buNone/>
            </a:pPr>
            <a:r>
              <a:t/>
            </a:r>
            <a:endParaRPr sz="1800">
              <a:solidFill>
                <a:srgbClr val="000000"/>
              </a:solidFill>
              <a:latin typeface="Roboto Light"/>
              <a:ea typeface="Roboto Light"/>
              <a:cs typeface="Roboto Light"/>
              <a:sym typeface="Robot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Actions &amp; Recommendations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Recommended actions:</a:t>
            </a:r>
            <a:endParaRPr sz="2700"/>
          </a:p>
        </p:txBody>
      </p:sp>
      <p:sp>
        <p:nvSpPr>
          <p:cNvPr id="144" name="Google Shape;144;p26"/>
          <p:cNvSpPr txBox="1"/>
          <p:nvPr>
            <p:ph idx="1" type="body"/>
          </p:nvPr>
        </p:nvSpPr>
        <p:spPr>
          <a:xfrm>
            <a:off x="311700" y="1391000"/>
            <a:ext cx="82677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i="1" lang="en">
                <a:latin typeface="Roboto"/>
                <a:ea typeface="Roboto"/>
                <a:cs typeface="Roboto"/>
                <a:sym typeface="Roboto"/>
              </a:rPr>
              <a:t>Product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Install more bikes at </a:t>
            </a:r>
            <a:r>
              <a:rPr i="1" lang="en"/>
              <a:t>Grove St PATH, Exchange Place, Sip Ave, Hamilton Park, Morris Canal, Newport PATH, City Hall, Van Vorst Park, Newark Ave, and Warren St.</a:t>
            </a:r>
            <a:endParaRPr i="1"/>
          </a:p>
          <a:p>
            <a:pPr indent="0" lvl="0" marL="0" rtl="0" algn="l">
              <a:spcBef>
                <a:spcPts val="1200"/>
              </a:spcBef>
              <a:spcAft>
                <a:spcPts val="0"/>
              </a:spcAft>
              <a:buNone/>
            </a:pPr>
            <a:r>
              <a:rPr b="1" i="1" lang="en">
                <a:latin typeface="Roboto"/>
                <a:ea typeface="Roboto"/>
                <a:cs typeface="Roboto"/>
                <a:sym typeface="Roboto"/>
              </a:rPr>
              <a:t>Marketing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The Citi Bike customer base is mostly long-term subscribers aged between 25 and 44, who are most active on weekdays. This tells us that they are probably people who live in New York and use Citi Bikes to commute. Marketing and advertising campaigns should therefore target this particular demographic. </a:t>
            </a:r>
            <a:endParaRPr i="1"/>
          </a:p>
          <a:p>
            <a:pPr indent="0" lvl="0" marL="914400" rtl="0" algn="l">
              <a:spcBef>
                <a:spcPts val="1200"/>
              </a:spcBef>
              <a:spcAft>
                <a:spcPts val="1200"/>
              </a:spcAft>
              <a:buNone/>
            </a:pPr>
            <a:r>
              <a:t/>
            </a:r>
            <a:endParaRPr i="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Goal:</a:t>
            </a:r>
            <a:endParaRPr/>
          </a:p>
        </p:txBody>
      </p:sp>
      <p:sp>
        <p:nvSpPr>
          <p:cNvPr id="155" name="Google Shape;155;p28"/>
          <p:cNvSpPr txBox="1"/>
          <p:nvPr>
            <p:ph idx="1" type="body"/>
          </p:nvPr>
        </p:nvSpPr>
        <p:spPr>
          <a:xfrm>
            <a:off x="311700" y="1152475"/>
            <a:ext cx="8267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i="1" lang="en"/>
              <a:t>To better understand the behavior of Citi Bike’s customer base (both one-time users and subscribers) and how they use Citi Bikes</a:t>
            </a:r>
            <a:br>
              <a:rPr i="1" lang="en"/>
            </a:br>
            <a:endParaRPr i="1"/>
          </a:p>
          <a:p>
            <a:pPr indent="-342900" lvl="0" marL="457200" rtl="0" algn="l">
              <a:spcBef>
                <a:spcPts val="0"/>
              </a:spcBef>
              <a:spcAft>
                <a:spcPts val="0"/>
              </a:spcAft>
              <a:buSzPts val="1800"/>
              <a:buChar char="●"/>
            </a:pPr>
            <a:r>
              <a:rPr i="1" lang="en"/>
              <a:t>This will help us to:</a:t>
            </a:r>
            <a:br>
              <a:rPr i="1" lang="en"/>
            </a:br>
            <a:endParaRPr i="1"/>
          </a:p>
          <a:p>
            <a:pPr indent="-317500" lvl="1" marL="914400" rtl="0" algn="l">
              <a:spcBef>
                <a:spcPts val="0"/>
              </a:spcBef>
              <a:spcAft>
                <a:spcPts val="0"/>
              </a:spcAft>
              <a:buSzPts val="1400"/>
              <a:buChar char="○"/>
            </a:pPr>
            <a:r>
              <a:rPr i="1" lang="en"/>
              <a:t>Identify where more bikes should be installed</a:t>
            </a:r>
            <a:endParaRPr i="1"/>
          </a:p>
          <a:p>
            <a:pPr indent="-317500" lvl="1" marL="914400" rtl="0" algn="l">
              <a:spcBef>
                <a:spcPts val="0"/>
              </a:spcBef>
              <a:spcAft>
                <a:spcPts val="0"/>
              </a:spcAft>
              <a:buSzPts val="1400"/>
              <a:buChar char="○"/>
            </a:pPr>
            <a:r>
              <a:rPr i="1" lang="en"/>
              <a:t>Create targeted </a:t>
            </a:r>
            <a:r>
              <a:rPr i="1" lang="en"/>
              <a:t>marketing</a:t>
            </a:r>
            <a:r>
              <a:rPr i="1" lang="en"/>
              <a:t> campaigns that will appeal to different customer segments</a:t>
            </a:r>
            <a:endParaRPr i="1"/>
          </a:p>
          <a:p>
            <a:pPr indent="0" lvl="0" marL="914400" rtl="0" algn="l">
              <a:spcBef>
                <a:spcPts val="1200"/>
              </a:spcBef>
              <a:spcAft>
                <a:spcPts val="1200"/>
              </a:spcAft>
              <a:buNone/>
            </a:pPr>
            <a:r>
              <a:t/>
            </a:r>
            <a:endParaRPr i="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questions:</a:t>
            </a:r>
            <a:endParaRPr/>
          </a:p>
        </p:txBody>
      </p:sp>
      <p:sp>
        <p:nvSpPr>
          <p:cNvPr id="161" name="Google Shape;161;p29"/>
          <p:cNvSpPr txBox="1"/>
          <p:nvPr>
            <p:ph idx="1" type="body"/>
          </p:nvPr>
        </p:nvSpPr>
        <p:spPr>
          <a:xfrm>
            <a:off x="311700" y="1152475"/>
            <a:ext cx="82677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Font typeface="Roboto"/>
              <a:buChar char="●"/>
            </a:pPr>
            <a:r>
              <a:rPr lang="en">
                <a:latin typeface="Roboto"/>
                <a:ea typeface="Roboto"/>
                <a:cs typeface="Roboto"/>
                <a:sym typeface="Roboto"/>
              </a:rPr>
              <a:t>What are the most popular pick-up locations across the city for Citi Bike rental?</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How does the average trip duration vary across different age groups?</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Which age group rents the most bikes?</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How does bike rental vary across the two user groups (one-time users vs long-term subscribers) on different days of the week? </a:t>
            </a:r>
            <a:br>
              <a:rPr lang="en">
                <a:latin typeface="Roboto"/>
                <a:ea typeface="Roboto"/>
                <a:cs typeface="Roboto"/>
                <a:sym typeface="Roboto"/>
              </a:rPr>
            </a:br>
            <a:endParaRPr>
              <a:latin typeface="Roboto"/>
              <a:ea typeface="Roboto"/>
              <a:cs typeface="Roboto"/>
              <a:sym typeface="Roboto"/>
            </a:endParaRPr>
          </a:p>
          <a:p>
            <a:pPr indent="-342900" lvl="0" marL="457200" rtl="0" algn="l">
              <a:spcBef>
                <a:spcPts val="0"/>
              </a:spcBef>
              <a:spcAft>
                <a:spcPts val="0"/>
              </a:spcAft>
              <a:buSzPts val="1800"/>
              <a:buFont typeface="Roboto"/>
              <a:buChar char="●"/>
            </a:pPr>
            <a:r>
              <a:rPr lang="en">
                <a:latin typeface="Roboto"/>
                <a:ea typeface="Roboto"/>
                <a:cs typeface="Roboto"/>
                <a:sym typeface="Roboto"/>
              </a:rPr>
              <a:t>Does the factor of user age impact the average bike trip duration?</a:t>
            </a:r>
            <a:endParaRPr i="1"/>
          </a:p>
          <a:p>
            <a:pPr indent="0" lvl="0" marL="914400" rtl="0" algn="l">
              <a:spcBef>
                <a:spcPts val="0"/>
              </a:spcBef>
              <a:spcAft>
                <a:spcPts val="1200"/>
              </a:spcAft>
              <a:buNone/>
            </a:pPr>
            <a:r>
              <a:t/>
            </a:r>
            <a:endParaRPr i="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Findings &amp; Insights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What are the most popular Citi Bike pick-up locations?</a:t>
            </a:r>
            <a:endParaRPr/>
          </a:p>
        </p:txBody>
      </p:sp>
      <p:pic>
        <p:nvPicPr>
          <p:cNvPr id="172" name="Google Shape;172;p31" title="The most popular pick-up stations for NY Citi Bikes.png"/>
          <p:cNvPicPr preferRelativeResize="0"/>
          <p:nvPr/>
        </p:nvPicPr>
        <p:blipFill>
          <a:blip r:embed="rId3">
            <a:alphaModFix/>
          </a:blip>
          <a:stretch>
            <a:fillRect/>
          </a:stretch>
        </p:blipFill>
        <p:spPr>
          <a:xfrm>
            <a:off x="1053950" y="1162188"/>
            <a:ext cx="5715000" cy="3533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How does the average trip duration vary across different age groups?</a:t>
            </a:r>
            <a:endParaRPr/>
          </a:p>
        </p:txBody>
      </p:sp>
      <p:sp>
        <p:nvSpPr>
          <p:cNvPr id="178" name="Google Shape;178;p32"/>
          <p:cNvSpPr txBox="1"/>
          <p:nvPr>
            <p:ph idx="1" type="body"/>
          </p:nvPr>
        </p:nvSpPr>
        <p:spPr>
          <a:xfrm>
            <a:off x="311700" y="1391000"/>
            <a:ext cx="826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100">
                <a:latin typeface="Arial"/>
                <a:ea typeface="Arial"/>
                <a:cs typeface="Arial"/>
                <a:sym typeface="Arial"/>
              </a:rPr>
              <a:t>Average trip duration varies by age</a:t>
            </a:r>
            <a:r>
              <a:rPr lang="en" sz="1100">
                <a:latin typeface="Arial"/>
                <a:ea typeface="Arial"/>
                <a:cs typeface="Arial"/>
                <a:sym typeface="Arial"/>
              </a:rPr>
              <a:t>, with older users generally taking longer rides. The 75+ age group has significantly higher average trip durations, while most working-age groups (25–64) show similar, shorter trips, indicating primarily utilitarian use.</a:t>
            </a:r>
            <a:endParaRPr i="1"/>
          </a:p>
        </p:txBody>
      </p:sp>
      <p:pic>
        <p:nvPicPr>
          <p:cNvPr id="179" name="Google Shape;179;p32" title="Average trip duration per age group.png"/>
          <p:cNvPicPr preferRelativeResize="0"/>
          <p:nvPr/>
        </p:nvPicPr>
        <p:blipFill>
          <a:blip r:embed="rId3">
            <a:alphaModFix/>
          </a:blip>
          <a:stretch>
            <a:fillRect/>
          </a:stretch>
        </p:blipFill>
        <p:spPr>
          <a:xfrm>
            <a:off x="859050" y="2420272"/>
            <a:ext cx="4275776" cy="2643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a:t>
            </a:r>
            <a:r>
              <a:rPr lang="en"/>
              <a:t>. Which age group rents the most bikes?</a:t>
            </a:r>
            <a:endParaRPr/>
          </a:p>
        </p:txBody>
      </p:sp>
      <p:sp>
        <p:nvSpPr>
          <p:cNvPr id="185" name="Google Shape;185;p33"/>
          <p:cNvSpPr txBox="1"/>
          <p:nvPr>
            <p:ph idx="1" type="body"/>
          </p:nvPr>
        </p:nvSpPr>
        <p:spPr>
          <a:xfrm>
            <a:off x="311700" y="1017725"/>
            <a:ext cx="826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100">
                <a:latin typeface="Arial"/>
                <a:ea typeface="Arial"/>
                <a:cs typeface="Arial"/>
                <a:sym typeface="Arial"/>
              </a:rPr>
              <a:t>Bike rentals are highest among the 35–44 age group</a:t>
            </a:r>
            <a:r>
              <a:rPr lang="en" sz="1100">
                <a:latin typeface="Arial"/>
                <a:ea typeface="Arial"/>
                <a:cs typeface="Arial"/>
                <a:sym typeface="Arial"/>
              </a:rPr>
              <a:t>, followed by users aged 25–34 and 45–54. This suggests that Citi Bike is predominantly used by working-age adults, likely for commuting and daily mobility.</a:t>
            </a:r>
            <a:endParaRPr i="1"/>
          </a:p>
        </p:txBody>
      </p:sp>
      <p:pic>
        <p:nvPicPr>
          <p:cNvPr id="186" name="Google Shape;186;p33" title="Number of bikes rented across different age groups.png"/>
          <p:cNvPicPr preferRelativeResize="0"/>
          <p:nvPr/>
        </p:nvPicPr>
        <p:blipFill>
          <a:blip r:embed="rId3">
            <a:alphaModFix/>
          </a:blip>
          <a:stretch>
            <a:fillRect/>
          </a:stretch>
        </p:blipFill>
        <p:spPr>
          <a:xfrm>
            <a:off x="1620525" y="1606424"/>
            <a:ext cx="5387625" cy="3331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a:t>
            </a:r>
            <a:r>
              <a:rPr lang="en"/>
              <a:t>. </a:t>
            </a:r>
            <a:r>
              <a:rPr lang="en" sz="2700">
                <a:latin typeface="Oswald"/>
                <a:ea typeface="Oswald"/>
                <a:cs typeface="Oswald"/>
                <a:sym typeface="Oswald"/>
              </a:rPr>
              <a:t>How does bike rental vary across the two user groups (one-time users vs long-term subscribers) on different days of the week? </a:t>
            </a:r>
            <a:endParaRPr sz="2700"/>
          </a:p>
        </p:txBody>
      </p:sp>
      <p:sp>
        <p:nvSpPr>
          <p:cNvPr id="192" name="Google Shape;192;p34"/>
          <p:cNvSpPr txBox="1"/>
          <p:nvPr>
            <p:ph idx="1" type="body"/>
          </p:nvPr>
        </p:nvSpPr>
        <p:spPr>
          <a:xfrm>
            <a:off x="311700" y="1391000"/>
            <a:ext cx="826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latin typeface="Arial"/>
                <a:ea typeface="Arial"/>
                <a:cs typeface="Arial"/>
                <a:sym typeface="Arial"/>
              </a:rPr>
              <a:t>Rental </a:t>
            </a:r>
            <a:r>
              <a:rPr b="1" lang="en" sz="1100">
                <a:latin typeface="Arial"/>
                <a:ea typeface="Arial"/>
                <a:cs typeface="Arial"/>
                <a:sym typeface="Arial"/>
              </a:rPr>
              <a:t>patterns differ clearly by user type and day of the week</a:t>
            </a:r>
            <a:r>
              <a:rPr lang="en" sz="1100">
                <a:latin typeface="Arial"/>
                <a:ea typeface="Arial"/>
                <a:cs typeface="Arial"/>
                <a:sym typeface="Arial"/>
              </a:rPr>
              <a:t>. Long-term subscribers dominate weekday usage, reflecting regular commuting behavior, whereas one-time users are more active on weekends, indicating leisure or tourist-driven demand.</a:t>
            </a:r>
            <a:endParaRPr i="1">
              <a:solidFill>
                <a:srgbClr val="FF0000"/>
              </a:solidFill>
            </a:endParaRPr>
          </a:p>
          <a:p>
            <a:pPr indent="0" lvl="0" marL="914400" rtl="0" algn="l">
              <a:spcBef>
                <a:spcPts val="1200"/>
              </a:spcBef>
              <a:spcAft>
                <a:spcPts val="1200"/>
              </a:spcAft>
              <a:buNone/>
            </a:pPr>
            <a:r>
              <a:t/>
            </a:r>
            <a:endParaRPr i="1"/>
          </a:p>
        </p:txBody>
      </p:sp>
      <p:pic>
        <p:nvPicPr>
          <p:cNvPr id="193" name="Google Shape;193;p34" title="Number of bikes rented by one-time users and subscribers on different days of the week.png"/>
          <p:cNvPicPr preferRelativeResize="0"/>
          <p:nvPr/>
        </p:nvPicPr>
        <p:blipFill>
          <a:blip r:embed="rId3">
            <a:alphaModFix/>
          </a:blip>
          <a:stretch>
            <a:fillRect/>
          </a:stretch>
        </p:blipFill>
        <p:spPr>
          <a:xfrm>
            <a:off x="1508775" y="1935650"/>
            <a:ext cx="5077050" cy="3139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 </a:t>
            </a:r>
            <a:r>
              <a:rPr lang="en" sz="2700">
                <a:latin typeface="Oswald"/>
                <a:ea typeface="Oswald"/>
                <a:cs typeface="Oswald"/>
                <a:sym typeface="Oswald"/>
              </a:rPr>
              <a:t>Do factors like weather and age impact the average bike trip duration? </a:t>
            </a:r>
            <a:endParaRPr sz="2700"/>
          </a:p>
        </p:txBody>
      </p:sp>
      <p:sp>
        <p:nvSpPr>
          <p:cNvPr id="199" name="Google Shape;199;p35"/>
          <p:cNvSpPr txBox="1"/>
          <p:nvPr>
            <p:ph idx="1" type="body"/>
          </p:nvPr>
        </p:nvSpPr>
        <p:spPr>
          <a:xfrm>
            <a:off x="517425" y="1017725"/>
            <a:ext cx="82677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latin typeface="Arial"/>
                <a:ea typeface="Arial"/>
                <a:cs typeface="Arial"/>
                <a:sym typeface="Arial"/>
              </a:rPr>
              <a:t>Overall, </a:t>
            </a:r>
            <a:r>
              <a:rPr b="1" lang="en" sz="1100">
                <a:latin typeface="Arial"/>
                <a:ea typeface="Arial"/>
                <a:cs typeface="Arial"/>
                <a:sym typeface="Arial"/>
              </a:rPr>
              <a:t>factors like age (and indirectly weather) do not show a strong impact on average bike trip duration</a:t>
            </a:r>
            <a:r>
              <a:rPr lang="en" sz="1100">
                <a:latin typeface="Arial"/>
                <a:ea typeface="Arial"/>
                <a:cs typeface="Arial"/>
                <a:sym typeface="Arial"/>
              </a:rPr>
              <a:t> when looking at individual trip data. The scatter plot shows that most trips are short across all age groups, indicating </a:t>
            </a:r>
            <a:r>
              <a:rPr b="1" lang="en" sz="1100">
                <a:latin typeface="Arial"/>
                <a:ea typeface="Arial"/>
                <a:cs typeface="Arial"/>
                <a:sym typeface="Arial"/>
              </a:rPr>
              <a:t>no clear correlation between age and trip length</a:t>
            </a:r>
            <a:r>
              <a:rPr lang="en" sz="1100">
                <a:latin typeface="Arial"/>
                <a:ea typeface="Arial"/>
                <a:cs typeface="Arial"/>
                <a:sym typeface="Arial"/>
              </a:rPr>
              <a:t>. While the </a:t>
            </a:r>
            <a:r>
              <a:rPr b="1" lang="en" sz="1100">
                <a:latin typeface="Arial"/>
                <a:ea typeface="Arial"/>
                <a:cs typeface="Arial"/>
                <a:sym typeface="Arial"/>
              </a:rPr>
              <a:t>75+ age group has a higher average trip duration</a:t>
            </a:r>
            <a:r>
              <a:rPr lang="en" sz="1100">
                <a:latin typeface="Arial"/>
                <a:ea typeface="Arial"/>
                <a:cs typeface="Arial"/>
                <a:sym typeface="Arial"/>
              </a:rPr>
              <a:t> when using mean values, the </a:t>
            </a:r>
            <a:r>
              <a:rPr b="1" lang="en" sz="1100">
                <a:latin typeface="Arial"/>
                <a:ea typeface="Arial"/>
                <a:cs typeface="Arial"/>
                <a:sym typeface="Arial"/>
              </a:rPr>
              <a:t>longest individual trips</a:t>
            </a:r>
            <a:r>
              <a:rPr lang="en" sz="1100">
                <a:latin typeface="Arial"/>
                <a:ea typeface="Arial"/>
                <a:cs typeface="Arial"/>
                <a:sym typeface="Arial"/>
              </a:rPr>
              <a:t> are actually taken by users aged </a:t>
            </a:r>
            <a:r>
              <a:rPr b="1" lang="en" sz="1100">
                <a:latin typeface="Arial"/>
                <a:ea typeface="Arial"/>
                <a:cs typeface="Arial"/>
                <a:sym typeface="Arial"/>
              </a:rPr>
              <a:t>30–55</a:t>
            </a:r>
            <a:r>
              <a:rPr lang="en" sz="1100">
                <a:latin typeface="Arial"/>
                <a:ea typeface="Arial"/>
                <a:cs typeface="Arial"/>
                <a:sym typeface="Arial"/>
              </a:rPr>
              <a:t>. This difference arises because averages reflect overall tendencies, whereas the scatter plot highlights raw, individual trip behavior. Therefore, user age does not meaningfully predict trip duration at the individual level, making it a limited factor for this analysis.</a:t>
            </a:r>
            <a:endParaRPr sz="1100">
              <a:latin typeface="Arial"/>
              <a:ea typeface="Arial"/>
              <a:cs typeface="Arial"/>
              <a:sym typeface="Arial"/>
            </a:endParaRPr>
          </a:p>
          <a:p>
            <a:pPr indent="0" lvl="0" marL="0" rtl="0" algn="l">
              <a:spcBef>
                <a:spcPts val="1200"/>
              </a:spcBef>
              <a:spcAft>
                <a:spcPts val="0"/>
              </a:spcAft>
              <a:buNone/>
            </a:pPr>
            <a:r>
              <a:t/>
            </a:r>
            <a:endParaRPr i="1">
              <a:solidFill>
                <a:srgbClr val="FF0000"/>
              </a:solidFill>
            </a:endParaRPr>
          </a:p>
          <a:p>
            <a:pPr indent="0" lvl="0" marL="914400" rtl="0" algn="l">
              <a:spcBef>
                <a:spcPts val="1200"/>
              </a:spcBef>
              <a:spcAft>
                <a:spcPts val="1200"/>
              </a:spcAft>
              <a:buNone/>
            </a:pPr>
            <a:r>
              <a:t/>
            </a:r>
            <a:endParaRPr i="1"/>
          </a:p>
        </p:txBody>
      </p:sp>
      <p:pic>
        <p:nvPicPr>
          <p:cNvPr id="200" name="Google Shape;200;p35" title="chart.png"/>
          <p:cNvPicPr preferRelativeResize="0"/>
          <p:nvPr/>
        </p:nvPicPr>
        <p:blipFill>
          <a:blip r:embed="rId3">
            <a:alphaModFix/>
          </a:blip>
          <a:stretch>
            <a:fillRect/>
          </a:stretch>
        </p:blipFill>
        <p:spPr>
          <a:xfrm>
            <a:off x="597975" y="2305472"/>
            <a:ext cx="4467200" cy="2762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Summary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findings:</a:t>
            </a:r>
            <a:endParaRPr sz="2700"/>
          </a:p>
        </p:txBody>
      </p:sp>
      <p:sp>
        <p:nvSpPr>
          <p:cNvPr id="211" name="Google Shape;211;p37"/>
          <p:cNvSpPr txBox="1"/>
          <p:nvPr/>
        </p:nvSpPr>
        <p:spPr>
          <a:xfrm>
            <a:off x="311700" y="1152475"/>
            <a:ext cx="8267700" cy="3416400"/>
          </a:xfrm>
          <a:prstGeom prst="rect">
            <a:avLst/>
          </a:prstGeom>
          <a:noFill/>
          <a:ln>
            <a:noFill/>
          </a:ln>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Clr>
                <a:srgbClr val="000000"/>
              </a:buClr>
              <a:buSzPct val="93864"/>
              <a:buFont typeface="Roboto Light"/>
              <a:buChar char="●"/>
            </a:pPr>
            <a:r>
              <a:rPr b="1" i="1" lang="en" sz="1917">
                <a:solidFill>
                  <a:srgbClr val="000000"/>
                </a:solidFill>
                <a:latin typeface="Roboto"/>
                <a:ea typeface="Roboto"/>
                <a:cs typeface="Roboto"/>
                <a:sym typeface="Roboto"/>
              </a:rPr>
              <a:t>Top 5 pick-up locations for bikes:</a:t>
            </a:r>
            <a:r>
              <a:rPr i="1" lang="en" sz="1917">
                <a:solidFill>
                  <a:srgbClr val="000000"/>
                </a:solidFill>
                <a:latin typeface="Roboto Light"/>
                <a:ea typeface="Roboto Light"/>
                <a:cs typeface="Roboto Light"/>
                <a:sym typeface="Roboto Light"/>
              </a:rPr>
              <a:t> </a:t>
            </a:r>
            <a:br>
              <a:rPr i="1" lang="en" sz="1800">
                <a:solidFill>
                  <a:srgbClr val="000000"/>
                </a:solidFill>
                <a:latin typeface="Roboto Light"/>
                <a:ea typeface="Roboto Light"/>
                <a:cs typeface="Roboto Light"/>
                <a:sym typeface="Roboto Light"/>
              </a:rPr>
            </a:br>
            <a:endParaRPr i="1" sz="1800">
              <a:solidFill>
                <a:srgbClr val="000000"/>
              </a:solidFill>
              <a:latin typeface="Roboto Light"/>
              <a:ea typeface="Roboto Light"/>
              <a:cs typeface="Roboto Light"/>
              <a:sym typeface="Roboto Light"/>
            </a:endParaRPr>
          </a:p>
          <a:p>
            <a:pPr indent="-304165" lvl="1" marL="914400" rtl="0" algn="l">
              <a:lnSpc>
                <a:spcPct val="115000"/>
              </a:lnSpc>
              <a:spcBef>
                <a:spcPts val="0"/>
              </a:spcBef>
              <a:spcAft>
                <a:spcPts val="0"/>
              </a:spcAft>
              <a:buClr>
                <a:srgbClr val="000000"/>
              </a:buClr>
              <a:buSzPct val="84436"/>
              <a:buFont typeface="Roboto Light"/>
              <a:buChar char="○"/>
            </a:pPr>
            <a:r>
              <a:rPr i="1" lang="en" sz="1658">
                <a:latin typeface="Roboto Light"/>
                <a:ea typeface="Roboto Light"/>
                <a:cs typeface="Roboto Light"/>
                <a:sym typeface="Roboto Light"/>
              </a:rPr>
              <a:t>Grove St Path, Exchange Place, Sip Ave, Hamilton Park, &amp; Morris Canal</a:t>
            </a: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25755" lvl="0" marL="457200" rtl="0" algn="l">
              <a:lnSpc>
                <a:spcPct val="115000"/>
              </a:lnSpc>
              <a:spcBef>
                <a:spcPts val="0"/>
              </a:spcBef>
              <a:spcAft>
                <a:spcPts val="0"/>
              </a:spcAft>
              <a:buClr>
                <a:srgbClr val="000000"/>
              </a:buClr>
              <a:buSzPct val="93311"/>
              <a:buFont typeface="Roboto Light"/>
              <a:buChar char="●"/>
            </a:pPr>
            <a:r>
              <a:rPr b="1" i="1" lang="en" sz="1929">
                <a:solidFill>
                  <a:srgbClr val="000000"/>
                </a:solidFill>
                <a:latin typeface="Roboto"/>
                <a:ea typeface="Roboto"/>
                <a:cs typeface="Roboto"/>
                <a:sym typeface="Roboto"/>
              </a:rPr>
              <a:t>Customer base: </a:t>
            </a:r>
            <a:br>
              <a:rPr b="1" i="1" lang="en" sz="1800">
                <a:solidFill>
                  <a:srgbClr val="000000"/>
                </a:solidFill>
                <a:latin typeface="Roboto"/>
                <a:ea typeface="Roboto"/>
                <a:cs typeface="Roboto"/>
                <a:sym typeface="Roboto"/>
              </a:rPr>
            </a:br>
            <a:endParaRPr b="1" i="1" sz="1800">
              <a:solidFill>
                <a:srgbClr val="000000"/>
              </a:solidFill>
              <a:latin typeface="Roboto"/>
              <a:ea typeface="Roboto"/>
              <a:cs typeface="Roboto"/>
              <a:sym typeface="Roboto"/>
            </a:endParaRPr>
          </a:p>
          <a:p>
            <a:pPr indent="-318093"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Based on your findings, how would you describe Citi Bike’s customer base? Think in terms of characteristics like age and user type</a:t>
            </a:r>
            <a:br>
              <a:rPr b="1" i="1" lang="en">
                <a:solidFill>
                  <a:srgbClr val="000000"/>
                </a:solidFill>
                <a:latin typeface="Roboto"/>
                <a:ea typeface="Roboto"/>
                <a:cs typeface="Roboto"/>
                <a:sym typeface="Roboto"/>
              </a:rPr>
            </a:br>
            <a:br>
              <a:rPr i="1" lang="en">
                <a:solidFill>
                  <a:srgbClr val="000000"/>
                </a:solidFill>
                <a:latin typeface="Roboto Light"/>
                <a:ea typeface="Roboto Light"/>
                <a:cs typeface="Roboto Light"/>
                <a:sym typeface="Roboto Light"/>
              </a:rPr>
            </a:br>
            <a:endParaRPr i="1">
              <a:solidFill>
                <a:srgbClr val="000000"/>
              </a:solidFill>
              <a:latin typeface="Roboto Light"/>
              <a:ea typeface="Roboto Light"/>
              <a:cs typeface="Roboto Light"/>
              <a:sym typeface="Roboto Light"/>
            </a:endParaRPr>
          </a:p>
          <a:p>
            <a:pPr indent="-332719" lvl="0" marL="457200" rtl="0" algn="l">
              <a:lnSpc>
                <a:spcPct val="115000"/>
              </a:lnSpc>
              <a:spcBef>
                <a:spcPts val="0"/>
              </a:spcBef>
              <a:spcAft>
                <a:spcPts val="0"/>
              </a:spcAft>
              <a:buClr>
                <a:srgbClr val="000000"/>
              </a:buClr>
              <a:buSzPct val="100000"/>
              <a:buFont typeface="Roboto Light"/>
              <a:buChar char="●"/>
            </a:pPr>
            <a:r>
              <a:rPr i="1" lang="en" sz="1929">
                <a:solidFill>
                  <a:srgbClr val="000000"/>
                </a:solidFill>
                <a:latin typeface="Roboto Light"/>
                <a:ea typeface="Roboto Light"/>
                <a:cs typeface="Roboto Light"/>
                <a:sym typeface="Roboto Light"/>
              </a:rPr>
              <a:t> </a:t>
            </a:r>
            <a:r>
              <a:rPr b="1" i="1" lang="en" sz="1929">
                <a:solidFill>
                  <a:srgbClr val="000000"/>
                </a:solidFill>
                <a:latin typeface="Roboto"/>
                <a:ea typeface="Roboto"/>
                <a:cs typeface="Roboto"/>
                <a:sym typeface="Roboto"/>
              </a:rPr>
              <a:t>Citi Bike customer behavior:</a:t>
            </a:r>
            <a:br>
              <a:rPr b="1" i="1" lang="en" sz="1929">
                <a:solidFill>
                  <a:srgbClr val="000000"/>
                </a:solidFill>
                <a:latin typeface="Roboto"/>
                <a:ea typeface="Roboto"/>
                <a:cs typeface="Roboto"/>
                <a:sym typeface="Roboto"/>
              </a:rPr>
            </a:br>
            <a:endParaRPr b="1" i="1" sz="1929">
              <a:solidFill>
                <a:srgbClr val="000000"/>
              </a:solidFill>
              <a:latin typeface="Roboto"/>
              <a:ea typeface="Roboto"/>
              <a:cs typeface="Roboto"/>
              <a:sym typeface="Roboto"/>
            </a:endParaRPr>
          </a:p>
          <a:p>
            <a:pPr indent="-318093" lvl="1" marL="914400" rtl="0" algn="l">
              <a:lnSpc>
                <a:spcPct val="115000"/>
              </a:lnSpc>
              <a:spcBef>
                <a:spcPts val="0"/>
              </a:spcBef>
              <a:spcAft>
                <a:spcPts val="0"/>
              </a:spcAft>
              <a:buClr>
                <a:srgbClr val="000000"/>
              </a:buClr>
              <a:buSzPct val="100000"/>
              <a:buFont typeface="Roboto Light"/>
              <a:buChar char="○"/>
            </a:pPr>
            <a:r>
              <a:rPr i="1" lang="en" sz="1658">
                <a:latin typeface="Roboto Light"/>
                <a:ea typeface="Roboto Light"/>
                <a:cs typeface="Roboto Light"/>
                <a:sym typeface="Roboto Light"/>
              </a:rPr>
              <a:t>Who takes the longest and shortest trips on average?</a:t>
            </a:r>
            <a:endParaRPr i="1" sz="1658">
              <a:solidFill>
                <a:srgbClr val="000000"/>
              </a:solidFill>
              <a:latin typeface="Roboto Light"/>
              <a:ea typeface="Roboto Light"/>
              <a:cs typeface="Roboto Light"/>
              <a:sym typeface="Roboto Light"/>
            </a:endParaRPr>
          </a:p>
          <a:p>
            <a:pPr indent="0" lvl="0" marL="0" rtl="0" algn="l">
              <a:lnSpc>
                <a:spcPct val="115000"/>
              </a:lnSpc>
              <a:spcBef>
                <a:spcPts val="1200"/>
              </a:spcBef>
              <a:spcAft>
                <a:spcPts val="1200"/>
              </a:spcAft>
              <a:buNone/>
            </a:pPr>
            <a:r>
              <a:t/>
            </a:r>
            <a:endParaRPr sz="1800">
              <a:solidFill>
                <a:srgbClr val="000000"/>
              </a:solidFill>
              <a:latin typeface="Roboto Light"/>
              <a:ea typeface="Roboto Light"/>
              <a:cs typeface="Roboto Light"/>
              <a:sym typeface="Roboto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Actions &amp; Recommendations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Recommended actions:</a:t>
            </a:r>
            <a:endParaRPr sz="2700"/>
          </a:p>
        </p:txBody>
      </p:sp>
      <p:sp>
        <p:nvSpPr>
          <p:cNvPr id="222" name="Google Shape;222;p39"/>
          <p:cNvSpPr txBox="1"/>
          <p:nvPr>
            <p:ph idx="1" type="body"/>
          </p:nvPr>
        </p:nvSpPr>
        <p:spPr>
          <a:xfrm>
            <a:off x="311700" y="1391000"/>
            <a:ext cx="82677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i="1" lang="en">
                <a:latin typeface="Roboto"/>
                <a:ea typeface="Roboto"/>
                <a:cs typeface="Roboto"/>
                <a:sym typeface="Roboto"/>
              </a:rPr>
              <a:t>Product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Install more bikes at </a:t>
            </a:r>
            <a:r>
              <a:rPr i="1" lang="en"/>
              <a:t>Grove St PATH, Exchange Place, Sip Ave, Hamilton Park, Morris Canal, Newport PATH, City Hall, Van Vorst Park, Newark Ave, and Warren St.</a:t>
            </a:r>
            <a:endParaRPr i="1"/>
          </a:p>
          <a:p>
            <a:pPr indent="0" lvl="0" marL="0" rtl="0" algn="l">
              <a:spcBef>
                <a:spcPts val="1200"/>
              </a:spcBef>
              <a:spcAft>
                <a:spcPts val="0"/>
              </a:spcAft>
              <a:buNone/>
            </a:pPr>
            <a:r>
              <a:rPr b="1" i="1" lang="en">
                <a:latin typeface="Roboto"/>
                <a:ea typeface="Roboto"/>
                <a:cs typeface="Roboto"/>
                <a:sym typeface="Roboto"/>
              </a:rPr>
              <a:t>Marketing recommendations:</a:t>
            </a:r>
            <a:endParaRPr b="1" i="1">
              <a:latin typeface="Roboto"/>
              <a:ea typeface="Roboto"/>
              <a:cs typeface="Roboto"/>
              <a:sym typeface="Roboto"/>
            </a:endParaRPr>
          </a:p>
          <a:p>
            <a:pPr indent="-342900" lvl="0" marL="457200" rtl="0" algn="l">
              <a:spcBef>
                <a:spcPts val="1200"/>
              </a:spcBef>
              <a:spcAft>
                <a:spcPts val="0"/>
              </a:spcAft>
              <a:buSzPts val="1800"/>
              <a:buChar char="●"/>
            </a:pPr>
            <a:r>
              <a:rPr i="1" lang="en"/>
              <a:t>The Citi Bike customer base is mostly long-term subscribers aged between 25 and 44, who are most active on weekdays. This tells us that they are probably people who live in New York and use Citi Bikes to commute. Marketing and advertising campaigns should therefore target this particular demographic. </a:t>
            </a:r>
            <a:endParaRPr i="1"/>
          </a:p>
          <a:p>
            <a:pPr indent="0" lvl="0" marL="914400" rtl="0" algn="l">
              <a:spcBef>
                <a:spcPts val="1200"/>
              </a:spcBef>
              <a:spcAft>
                <a:spcPts val="1200"/>
              </a:spcAft>
              <a:buNone/>
            </a:pPr>
            <a:r>
              <a:t/>
            </a:r>
            <a:endParaRPr i="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0"/>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